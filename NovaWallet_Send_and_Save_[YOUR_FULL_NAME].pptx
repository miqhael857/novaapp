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minutes. The one thing to remember: a queued transfer survives the app being killed and is never sent twice.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why the offline path is the centre of the work rather than a nice-to-have.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straight about the gaps. Naming them is stronger than hoping they go unnoticed.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databases is the detail worth landing: it keeps the client/server boundary 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interview. Say the sentence: the client cannot guarantee exactly once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kobo of drift in a balance is a support ticket. That is why it is a type, not a convention.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shrinkWrap point shows the constraint was understood, not just pattern-matched.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Offer to run flutter test live — it takes four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oversell the tool. The catch matters more than the assist.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demo: airplane mode, send, kill the app, reconnect, one debit.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Helvetica Neue"/>
              </a:rPr>
              <a:t>NovaWallet Mobile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8803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0">
                <a:solidFill>
                  <a:srgbClr val="C9A227"/>
                </a:solidFill>
                <a:latin typeface="Helvetica Neue"/>
              </a:rPr>
              <a:t>Send &amp; Save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A9B8CF"/>
                </a:solidFill>
                <a:latin typeface="Helvetica Neue"/>
              </a:rPr>
              <a:t>FirstBank Digital Factory · Frontend Engineer, Mobile (Flutter)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891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A9B8CF"/>
                </a:solidFill>
                <a:latin typeface="Helvetica Neue"/>
              </a:rPr>
              <a:t>[YOUR FULL NAME]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A9B8CF"/>
                </a:solidFill>
                <a:latin typeface="Helvetica Neue"/>
              </a:rPr>
              <a:t>[GITHUB REPO URL]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Helvetica Neue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1F3A"/>
                </a:solidFill>
                <a:latin typeface="Helvetica Neue"/>
              </a:rPr>
              <a:t>Who this is built for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201168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000" b="0">
                <a:solidFill>
                  <a:srgbClr val="0F172A"/>
                </a:solidFill>
                <a:latin typeface="Helvetica Neue"/>
              </a:rPr>
              <a:t>• Mass-market Nigerian users, largely on low-end Android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0F172A"/>
                </a:solidFill>
                <a:latin typeface="Helvetica Neue"/>
              </a:rPr>
              <a:t>• Connectivity is patchy — offline is the normal case, not the error case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0F172A"/>
                </a:solidFill>
                <a:latin typeface="Helvetica Neue"/>
              </a:rPr>
              <a:t>• NIBSS NIP settles instantly, so a send is final the moment it lands</a:t>
            </a:r>
          </a:p>
          <a:p>
            <a:pPr algn="l">
              <a:spcAft>
                <a:spcPts val="1400"/>
              </a:spcAft>
            </a:pPr>
            <a:r>
              <a:rPr sz="2000" b="0">
                <a:solidFill>
                  <a:srgbClr val="0F172A"/>
                </a:solidFill>
                <a:latin typeface="Helvetica Neue"/>
              </a:rPr>
              <a:t>• That combination is why idempotency matters more than polish here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75569"/>
                </a:solidFill>
                <a:latin typeface="Helvetica Neue"/>
              </a:rPr>
              <a:t>“The app must degrade gracefully, not just look good on a fast Wi-Fi demo.” — the brief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Helvetica Neue"/>
              </a:rPr>
              <a:t>PRIORITISATION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1F3A"/>
                </a:solidFill>
                <a:latin typeface="Helvetica Neue"/>
              </a:rPr>
              <a:t>What I built, and what I chose not to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201168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3A66"/>
                </a:solidFill>
                <a:latin typeface="Helvetica Neue"/>
              </a:rPr>
              <a:t>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Wallet home: ledger balance, lazy list, pull-to-refresh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Send Money: recipient → amount → confirm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Offline queue + sync, exactly-once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Result screen: sent and queued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NovaSave: create, contribute, progress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3A66"/>
                </a:solidFill>
                <a:latin typeface="Helvetica Neue"/>
              </a:rPr>
              <a:t>Deliberately not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4884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Send validates against a constant, not the live balance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TalkBack audit (Semantics are in, unaudited)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Notifications, localisation, goldens, biometrics</a:t>
            </a:r>
          </a:p>
          <a:p>
            <a:pPr algn="l">
              <a:spcAft>
                <a:spcPts val="1000"/>
              </a:spcAft>
            </a:pP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The brief asked for judgment about priorities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rather than a rushed attempt at everything.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Helvetica Neue"/>
              </a:rPr>
              <a:t>HOW IT IS PUT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1F3A"/>
                </a:solidFill>
                <a:latin typeface="Helvetica Neue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201168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400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0F172A"/>
                </a:solidFill>
                <a:latin typeface="Helvetica Neue"/>
              </a:rPr>
              <a:t>presentation/   screens + Riverpod notifiers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0F172A"/>
                </a:solidFill>
                <a:latin typeface="Helvetica Neue"/>
              </a:rPr>
              <a:t>data/local/     outbox + client database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0F172A"/>
                </a:solidFill>
                <a:latin typeface="Helvetica Neue"/>
              </a:rPr>
              <a:t>data/remote/    fake NovaPay API (idempotent receiver)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0F172A"/>
                </a:solidFill>
                <a:latin typeface="Helvetica Neue"/>
              </a:rPr>
              <a:t>data/sync/      single-flight sync engine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0F172A"/>
                </a:solidFill>
                <a:latin typeface="Helvetica Neue"/>
              </a:rPr>
              <a:t>core/money/     Kobo value 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6400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475569"/>
                </a:solidFill>
                <a:latin typeface="Helvetica Neue"/>
              </a:rPr>
              <a:t>Riverpod 3, no code generation.</a:t>
            </a:r>
          </a:p>
          <a:p>
            <a:pPr algn="l">
              <a:spcAft>
                <a:spcPts val="1000"/>
              </a:spcAft>
            </a:pP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475569"/>
                </a:solidFill>
                <a:latin typeface="Helvetica Neue"/>
              </a:rPr>
              <a:t>Flow state lives in a notifier, never in the router's extra — extra is null after Android restarts a killed app.</a:t>
            </a:r>
          </a:p>
          <a:p>
            <a:pPr algn="l">
              <a:spcAft>
                <a:spcPts val="1000"/>
              </a:spcAft>
            </a:pP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475569"/>
                </a:solidFill>
                <a:latin typeface="Helvetica Neue"/>
              </a:rPr>
              <a:t>Client and fake server are separate database files, so the client cannot repair the server's record of what it already processed.</a:t>
            </a:r>
          </a:p>
        </p:txBody>
      </p:sp>
      <p:pic>
        <p:nvPicPr>
          <p:cNvPr id="7" name="Picture 6" descr="HomeAnnot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737360"/>
            <a:ext cx="5193442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Helvetica Neue"/>
              </a:rPr>
              <a:t>THE 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1F3A"/>
                </a:solidFill>
                <a:latin typeface="Helvetica Neue"/>
              </a:rPr>
              <a:t>Exactly once — the honest version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201168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B1F3A"/>
                </a:solidFill>
                <a:latin typeface="Helvetica Neue"/>
              </a:rPr>
              <a:t>A client cannot promise exactly-once on its 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67665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1.  The client promises AT LEAST ONCE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     The outbox row is written before any network call and cleared only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     when the server answers. Die mid-send and the row is retried.</a:t>
            </a:r>
          </a:p>
          <a:p>
            <a:pPr algn="l">
              <a:spcAft>
                <a:spcPts val="800"/>
              </a:spcAft>
            </a:pP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2.  The server promises NO DUPLICATES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     Same idempotency key every attempt; a key it has seen replays the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     original outcome, re-checked inside the transaction.</a:t>
            </a:r>
          </a:p>
          <a:p>
            <a:pPr algn="l">
              <a:spcAft>
                <a:spcPts val="800"/>
              </a:spcAft>
            </a:pP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Exactly-once is the effect of the two halves, not a property of either.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486400"/>
            <a:ext cx="6766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1B3A66"/>
                </a:solidFill>
                <a:latin typeface="Helvetica Neue"/>
              </a:rPr>
              <a:t>pending → in_flight → succeeded | failed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B3A66"/>
                </a:solidFill>
                <a:latin typeface="Helvetica Neue"/>
              </a:rPr>
              <a:t>in_flight rows are re-sent: no answer means we do not know.</a:t>
            </a:r>
          </a:p>
        </p:txBody>
      </p:sp>
      <p:pic>
        <p:nvPicPr>
          <p:cNvPr id="8" name="Picture 7" descr="SendQueu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737360"/>
            <a:ext cx="2057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Helvetica Neue"/>
              </a:rPr>
              <a:t>CORRECTNESS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1F3A"/>
                </a:solidFill>
                <a:latin typeface="Helvetica Neue"/>
              </a:rPr>
              <a:t>Money is an integer, always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201168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583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0F172A"/>
                </a:solidFill>
                <a:latin typeface="Helvetica Neue"/>
              </a:rPr>
              <a:t>• Kobo wraps a whole int — no double touches an amount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0F172A"/>
                </a:solidFill>
                <a:latin typeface="Helvetica Neue"/>
              </a:rPr>
              <a:t>• Formatting: integer division and manual thousands grouping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0F172A"/>
                </a:solidFill>
                <a:latin typeface="Helvetica Neue"/>
              </a:rPr>
              <a:t>• Parsing: string → kobo, never double.parse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0F172A"/>
                </a:solidFill>
                <a:latin typeface="Helvetica Neue"/>
              </a:rPr>
              <a:t>• Progress: value * 100 ~/ total, clamped 0–100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0F172A"/>
                </a:solidFill>
                <a:latin typeface="Helvetica Neue"/>
              </a:rPr>
              <a:t>• 19 tests, including the classic 0.1 + 0.2 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6583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B3A66"/>
                </a:solidFill>
                <a:latin typeface="Helvetica Neue"/>
              </a:rPr>
              <a:t>₦248,350.75  is  Kobo(24835075)</a:t>
            </a:r>
          </a:p>
        </p:txBody>
      </p:sp>
      <p:pic>
        <p:nvPicPr>
          <p:cNvPr id="7" name="Picture 6" descr="SendConfi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737360"/>
            <a:ext cx="2057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Helvetica Neue"/>
              </a:rPr>
              <a:t>CONSTRAINTS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1F3A"/>
                </a:solidFill>
                <a:latin typeface="Helvetica Neue"/>
              </a:rPr>
              <a:t>Accessibility and low-end devices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201168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7665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0F172A"/>
                </a:solidFill>
                <a:latin typeface="Helvetica Neue"/>
              </a:rPr>
              <a:t>• Lists are lazy: SliverList.builder, not ListView.builder with shrinkWrap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0F172A"/>
                </a:solidFill>
                <a:latin typeface="Helvetica Neue"/>
              </a:rPr>
              <a:t>   (shrinkWrap still lays out every row — it only looks lazy)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0F172A"/>
                </a:solidFill>
                <a:latin typeface="Helvetica Neue"/>
              </a:rPr>
              <a:t>• Line height is a ratio, so text grows with the system font setting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0F172A"/>
                </a:solidFill>
                <a:latin typeface="Helvetica Neue"/>
              </a:rPr>
              <a:t>• Buttons use minHeight, never fixed heights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0F172A"/>
                </a:solidFill>
                <a:latin typeface="Helvetica Neue"/>
              </a:rPr>
              <a:t>• Status carries an icon and a word — never colour alone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0F172A"/>
                </a:solidFill>
                <a:latin typeface="Helvetica Neue"/>
              </a:rPr>
              <a:t>• MergeSemantics per row, so a screen reader reads one item</a:t>
            </a:r>
          </a:p>
        </p:txBody>
      </p:sp>
      <p:pic>
        <p:nvPicPr>
          <p:cNvPr id="6" name="Picture 5" descr="HomeLarge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737360"/>
            <a:ext cx="2057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Helvetica Neue"/>
              </a:rPr>
              <a:t>65 PASSING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1F3A"/>
                </a:solidFill>
                <a:latin typeface="Helvetica Neue"/>
              </a:rPr>
              <a:t>Tests that fail if the guarantee breaks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201168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0">
                <a:solidFill>
                  <a:srgbClr val="0F172A"/>
                </a:solidFill>
                <a:latin typeface="Helvetica Neue"/>
              </a:rPr>
              <a:t>• Two concurrent sync passes → one ledger entry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0F172A"/>
                </a:solidFill>
                <a:latin typeface="Helvetica Neue"/>
              </a:rPr>
              <a:t>• Server already processed, then app restarts → no double debit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0F172A"/>
                </a:solidFill>
                <a:latin typeface="Helvetica Neue"/>
              </a:rPr>
              <a:t>• Row left in_flight after a crash → retried with the same key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0F172A"/>
                </a:solidFill>
                <a:latin typeface="Helvetica Neue"/>
              </a:rPr>
              <a:t>• Offline → stays queued, no retry loop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0F172A"/>
                </a:solidFill>
                <a:latin typeface="Helvetica Neue"/>
              </a:rPr>
              <a:t>• Rejection is final, never retried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0F172A"/>
                </a:solidFill>
                <a:latin typeface="Helvetica Neue"/>
              </a:rPr>
              <a:t>• Stepping back and forward keeps ONE idempotency key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  <a:latin typeface="Helvetica Neue"/>
              </a:rPr>
              <a:t>The tests assert the property, not the implementation: they fail if the queue ever replays twice or loses an item. Plus an on-device integration test: offline → restart → reconnect → one ledger entry.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C9A227"/>
                </a:solidFill>
                <a:latin typeface="Helvetica Neue"/>
              </a:rPr>
              <a:t>JUDGMENT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0B1F3A"/>
                </a:solidFill>
                <a:latin typeface="Helvetica Neue"/>
              </a:rPr>
              <a:t>Working with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325880"/>
            <a:ext cx="2011680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B3A66"/>
                </a:solidFill>
                <a:latin typeface="Helvetica Neue"/>
              </a:rPr>
              <a:t>Helped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49377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Outbox-first ordering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The idempotent-receiver argument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Single-flight sync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Spotting three layout bugs from a screenshot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B91C1C"/>
                </a:solidFill>
                <a:latin typeface="Helvetica Neue"/>
              </a:rPr>
              <a:t>Was wrong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48840"/>
            <a:ext cx="49377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Invented a “Share receipt” feature not in the brief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Then “proved” it was absent by searching binary noise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• Reported a completed transfer as still pending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0F172A"/>
                </a:solidFill>
                <a:latin typeface="Helvetica Neue"/>
              </a:rPr>
              <a:t>   (joined a sync pass that predated the row)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463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  <a:latin typeface="Helvetica Neue"/>
              </a:rPr>
              <a:t>The fabricated evidence is the one worth talking about: the answer was defensible, the reasoning behind it was worthless, and it looked settled.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Helvetica Neue"/>
              </a:rPr>
              <a:t>Next, with more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Helvetica Neue"/>
              </a:rPr>
              <a:t>• StatefulShellRoute so each tab keeps its own stack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Helvetica Neue"/>
              </a:rPr>
              <a:t>• Transaction history read from the ledger, not seeded data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Helvetica Neue"/>
              </a:rPr>
              <a:t>• SQLCipher for the client database (NDPA 2023: the queue holds account numbers)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Helvetica Neue"/>
              </a:rPr>
              <a:t>• A real name-enquiry call instead of the faked directory</a:t>
            </a:r>
          </a:p>
          <a:p>
            <a:pPr algn="l">
              <a:spcAft>
                <a:spcPts val="1400"/>
              </a:spcAft>
            </a:pPr>
            <a:r>
              <a:rPr sz="1900" b="0">
                <a:solidFill>
                  <a:srgbClr val="FFFFFF"/>
                </a:solidFill>
                <a:latin typeface="Helvetica Neue"/>
              </a:rPr>
              <a:t>• Local notification when a queued transfer finally lands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C9A227"/>
                </a:solidFill>
                <a:latin typeface="Helvetica Neue"/>
              </a:rPr>
              <a:t>[GITHUB REPO URL]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